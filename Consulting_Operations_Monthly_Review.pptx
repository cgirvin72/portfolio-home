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0"/>
                </a:solidFill>
                <a:latin typeface="Calibri"/>
              </a:rPr>
              <a:t>Target vs. Actual Revenue ($000s)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Revenue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395</c:v>
                </c:pt>
                <c:pt idx="1">
                  <c:v>402</c:v>
                </c:pt>
                <c:pt idx="2">
                  <c:v>410</c:v>
                </c:pt>
                <c:pt idx="3">
                  <c:v>418</c:v>
                </c:pt>
                <c:pt idx="4">
                  <c:v>425</c:v>
                </c:pt>
                <c:pt idx="5">
                  <c:v>430</c:v>
                </c:pt>
                <c:pt idx="6">
                  <c:v>422</c:v>
                </c:pt>
                <c:pt idx="7">
                  <c:v>428</c:v>
                </c:pt>
                <c:pt idx="8">
                  <c:v>435</c:v>
                </c:pt>
                <c:pt idx="9">
                  <c:v>440</c:v>
                </c:pt>
                <c:pt idx="10">
                  <c:v>438</c:v>
                </c:pt>
                <c:pt idx="11">
                  <c:v>445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388</c:v>
                </c:pt>
                <c:pt idx="1">
                  <c:v>397</c:v>
                </c:pt>
                <c:pt idx="2">
                  <c:v>401</c:v>
                </c:pt>
                <c:pt idx="3">
                  <c:v>409</c:v>
                </c:pt>
                <c:pt idx="4">
                  <c:v>412</c:v>
                </c:pt>
                <c:pt idx="5">
                  <c:v>419</c:v>
                </c:pt>
                <c:pt idx="6">
                  <c:v>401</c:v>
                </c:pt>
                <c:pt idx="7">
                  <c:v>408</c:v>
                </c:pt>
                <c:pt idx="8">
                  <c:v>415</c:v>
                </c:pt>
                <c:pt idx="9">
                  <c:v>422</c:v>
                </c:pt>
                <c:pt idx="10">
                  <c:v>418</c:v>
                </c:pt>
                <c:pt idx="11">
                  <c:v>431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0"/>
                </a:solidFill>
                <a:latin typeface="Calibri"/>
              </a:rPr>
              <a:t>Gross Margin %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33.9</c:v>
                </c:pt>
                <c:pt idx="1">
                  <c:v>34.4</c:v>
                </c:pt>
                <c:pt idx="2">
                  <c:v>32.3</c:v>
                </c:pt>
                <c:pt idx="3">
                  <c:v>36.6</c:v>
                </c:pt>
                <c:pt idx="4">
                  <c:v>36.4</c:v>
                </c:pt>
                <c:pt idx="5">
                  <c:v>40.4</c:v>
                </c:pt>
                <c:pt idx="6">
                  <c:v>37.2</c:v>
                </c:pt>
                <c:pt idx="7">
                  <c:v>38.4</c:v>
                </c:pt>
                <c:pt idx="8">
                  <c:v>37</c:v>
                </c:pt>
                <c:pt idx="9">
                  <c:v>38.6</c:v>
                </c:pt>
                <c:pt idx="10">
                  <c:v>36.6</c:v>
                </c:pt>
                <c:pt idx="11">
                  <c:v>34.8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(35%)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35</c:v>
                </c:pt>
                <c:pt idx="11">
                  <c:v>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0"/>
                </a:solidFill>
                <a:latin typeface="Calibri"/>
              </a:rPr>
              <a:t>Utilization %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Billable Utilization %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79.4</c:v>
                </c:pt>
                <c:pt idx="1">
                  <c:v>80.7</c:v>
                </c:pt>
                <c:pt idx="2">
                  <c:v>85.1</c:v>
                </c:pt>
                <c:pt idx="3">
                  <c:v>79.6</c:v>
                </c:pt>
                <c:pt idx="4">
                  <c:v>80.1</c:v>
                </c:pt>
                <c:pt idx="5">
                  <c:v>81</c:v>
                </c:pt>
                <c:pt idx="6">
                  <c:v>76.2</c:v>
                </c:pt>
                <c:pt idx="7">
                  <c:v>80.1</c:v>
                </c:pt>
                <c:pt idx="8">
                  <c:v>81.6</c:v>
                </c:pt>
                <c:pt idx="9">
                  <c:v>83.5</c:v>
                </c:pt>
                <c:pt idx="10">
                  <c:v>75.1</c:v>
                </c:pt>
                <c:pt idx="11">
                  <c:v>77.6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Effective Utilization %</c:v>
                </c:pt>
              </c:strCache>
            </c:strRef>
          </c:tx>
          <c:spPr>
            <a:solidFill>
              <a:srgbClr val="1C2530"/>
            </a:solidFill>
            <a:ln w="38100" cap="flat">
              <a:solidFill>
                <a:srgbClr val="1C25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2530"/>
              </a:solidFill>
              <a:ln w="9525" cap="flat">
                <a:solidFill>
                  <a:srgbClr val="1C25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82.8</c:v>
                </c:pt>
                <c:pt idx="1">
                  <c:v>86.9</c:v>
                </c:pt>
                <c:pt idx="2">
                  <c:v>90.9</c:v>
                </c:pt>
                <c:pt idx="3">
                  <c:v>82.8</c:v>
                </c:pt>
                <c:pt idx="4">
                  <c:v>87</c:v>
                </c:pt>
                <c:pt idx="5">
                  <c:v>87.9</c:v>
                </c:pt>
                <c:pt idx="6">
                  <c:v>81.8</c:v>
                </c:pt>
                <c:pt idx="7">
                  <c:v>85.6</c:v>
                </c:pt>
                <c:pt idx="8">
                  <c:v>85.2</c:v>
                </c:pt>
                <c:pt idx="9">
                  <c:v>86.6</c:v>
                </c:pt>
                <c:pt idx="10">
                  <c:v>80.2</c:v>
                </c:pt>
                <c:pt idx="11">
                  <c:v>80.8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0"/>
                </a:solidFill>
                <a:latin typeface="Calibri"/>
              </a:rPr>
              <a:t>SLA Attainment %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Attainment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</c:v>
                </c:pt>
                <c:pt idx="1">
                  <c:v>99</c:v>
                </c:pt>
                <c:pt idx="2">
                  <c:v>98</c:v>
                </c:pt>
                <c:pt idx="3">
                  <c:v>97.2</c:v>
                </c:pt>
                <c:pt idx="4">
                  <c:v>94.9</c:v>
                </c:pt>
                <c:pt idx="5">
                  <c:v>94.4</c:v>
                </c:pt>
                <c:pt idx="6">
                  <c:v>94.7</c:v>
                </c:pt>
                <c:pt idx="7">
                  <c:v>93.4</c:v>
                </c:pt>
                <c:pt idx="8">
                  <c:v>97.6</c:v>
                </c:pt>
                <c:pt idx="9">
                  <c:v>95.4</c:v>
                </c:pt>
                <c:pt idx="10">
                  <c:v>98.1</c:v>
                </c:pt>
                <c:pt idx="11">
                  <c:v>95.3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Target (95%)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Operations Review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Margin, Utilization &amp; Project Health — Fiscal Year Overview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Analytics &amp; BI Professional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447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1</a:t>
            </a: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2984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signal across revenue, margin, utilization, and delivery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2</a:t>
            </a:r>
            <a:endParaRPr lang="en-US" sz="1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Bookings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0482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backlog, and billings against target — where the pipeline stands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254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3</a:t>
            </a:r>
            <a:endParaRPr lang="en-US" sz="100" dirty="0"/>
          </a:p>
        </p:txBody>
      </p:sp>
      <p:sp>
        <p:nvSpPr>
          <p:cNvPr id="13" name="Text 11"/>
          <p:cNvSpPr/>
          <p:nvPr/>
        </p:nvSpPr>
        <p:spPr>
          <a:xfrm>
            <a:off x="914400" y="2798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7980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labor, and contribution margin by month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69417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753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4</a:t>
            </a: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Utilization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5478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vs. effective utilization against the target band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5</a:t>
            </a:r>
            <a:endParaRPr lang="en-US" sz="1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cost performance across the active portfolio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19379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074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6</a:t>
            </a:r>
            <a:endParaRPr lang="en-US" sz="100" dirty="0"/>
          </a:p>
        </p:txBody>
      </p:sp>
      <p:sp>
        <p:nvSpPr>
          <p:cNvPr id="25" name="Text 23"/>
          <p:cNvSpPr/>
          <p:nvPr/>
        </p:nvSpPr>
        <p:spPr>
          <a:xfrm>
            <a:off x="914400" y="5047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Levels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50474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 against baseline and client satisfaction trend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operations reporting and review — performance against consulting metrics, active project dashboard, and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35% 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81304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UTILIZATION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75-85% band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95% baseline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57376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7260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 / 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726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avg: 4.43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 Snapshot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Active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9768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Started (MTD)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9768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Closed (MTD)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4892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At-Risk Projects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9768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0760" y="324612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941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8130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standardized weekly utilization reporting cadence across all delivery teams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465429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526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cross-trained 4 consultants into a second practice area to reduce bench risk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53675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52395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automated bookings-to-backlog reconciliation, cutting manual prep time ~60%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Bookings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backlog, and billings — target vs. actual revenue generation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37160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(MTD)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$461K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PS Agreements + SOW + PO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92440" y="27889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2898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(EOM)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753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$1.82M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75320" y="3630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not yet delivered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4206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315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 (MTD)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7532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$431K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75320" y="5047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and invoiced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trend against the 35% target threshold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Utilization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vs. effective utilization against the 75–85% healthy operating band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performance across the active project portfolio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VARIANCE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-$13.5K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+$15.7K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cost execution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29944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INDEX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9828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9828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plan, watch closely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1106424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These Numbers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380390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657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 (CPI)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÷ Actual Cost. Above 1.0 means the portfolio is delivering more value per dollar spent than planned — currently running efficient at 1.04x.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4622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Index (SPI)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4590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÷ Planned Value. At 0.97x, the portfolio is tracking slightly behind the planned delivery pace — close enough to monitor, not yet a red flag.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1206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9743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 Completion (EAC)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2486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 Completion ÷ CPI. Projects current cost performance forward to forecast total program cost if the trend holds.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Service Levels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 against the 95% baseline, and client satisfaction trend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371600"/>
            <a:ext cx="4069080" cy="4297680"/>
          </a:xfrm>
          <a:prstGeom prst="roundRect">
            <a:avLst>
              <a:gd name="adj" fmla="val 1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/ 5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average client survey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10896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33924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 (Mar, 4.10) coincided with two delayed milestone deliverables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0782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within one cycle through proactive client check-ins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47640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4617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has not dipped below 4.0 in the trailing 12 months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portfolio sample demonstrating monthly operations reporting for a professional services business.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on the same KPI definitions and calculation methodology documented in the companion KPI Definition &amp; Governance Workbook — every chart traces back to a governed metric with a defined formula, data source, owner, and reporting cadence.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synthetic and representative. No actual employer, client, or proprietary data is used.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  •  Senior Analytics &amp; BI Professional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Operations Monthly Review</dc:title>
  <dc:subject>PptxGenJS Presentation</dc:subject>
  <dc:creator>Christopher S. Girvin</dc:creator>
  <cp:lastModifiedBy>Christopher S. Girvin</cp:lastModifiedBy>
  <cp:revision>1</cp:revision>
  <dcterms:created xsi:type="dcterms:W3CDTF">2026-06-24T16:22:27Z</dcterms:created>
  <dcterms:modified xsi:type="dcterms:W3CDTF">2026-06-24T16:22:27Z</dcterms:modified>
</cp:coreProperties>
</file>